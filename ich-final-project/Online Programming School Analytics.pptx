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Montserrat" charset="1" panose="00000500000000000000"/>
      <p:regular r:id="rId35"/>
    </p:embeddedFont>
    <p:embeddedFont>
      <p:font typeface="Gotham" charset="1" panose="00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22976" y="0"/>
            <a:ext cx="12765024" cy="10287000"/>
          </a:xfrm>
          <a:custGeom>
            <a:avLst/>
            <a:gdLst/>
            <a:ahLst/>
            <a:cxnLst/>
            <a:rect r="r" b="b" t="t" l="l"/>
            <a:pathLst>
              <a:path h="10287000" w="12765024">
                <a:moveTo>
                  <a:pt x="0" y="0"/>
                </a:moveTo>
                <a:lnTo>
                  <a:pt x="12765024" y="0"/>
                </a:lnTo>
                <a:lnTo>
                  <a:pt x="1276502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169" t="-23938" r="0" b="-2393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468880"/>
            <a:ext cx="12916796" cy="5084782"/>
          </a:xfrm>
          <a:custGeom>
            <a:avLst/>
            <a:gdLst/>
            <a:ahLst/>
            <a:cxnLst/>
            <a:rect r="r" b="b" t="t" l="l"/>
            <a:pathLst>
              <a:path h="5084782" w="12916796">
                <a:moveTo>
                  <a:pt x="0" y="0"/>
                </a:moveTo>
                <a:lnTo>
                  <a:pt x="12916796" y="0"/>
                </a:lnTo>
                <a:lnTo>
                  <a:pt x="12916796" y="5084782"/>
                </a:lnTo>
                <a:lnTo>
                  <a:pt x="0" y="5084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3969" r="0" b="-12473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7544" y="3277453"/>
            <a:ext cx="12697952" cy="320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8"/>
              </a:lnSpc>
            </a:pPr>
            <a:r>
              <a:rPr lang="en-US" sz="7812">
                <a:solidFill>
                  <a:srgbClr val="363535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 </a:t>
            </a:r>
          </a:p>
          <a:p>
            <a:pPr algn="l">
              <a:lnSpc>
                <a:spcPts val="8358"/>
              </a:lnSpc>
            </a:pPr>
            <a:r>
              <a:rPr lang="en-US" sz="7812">
                <a:solidFill>
                  <a:srgbClr val="363535"/>
                </a:solidFill>
                <a:latin typeface="Montserrat"/>
                <a:ea typeface="Montserrat"/>
                <a:cs typeface="Montserrat"/>
                <a:sym typeface="Montserrat"/>
              </a:rPr>
              <a:t>ОНЛАЙН-ШКОЛЫ ПРОГРАММИРОВАНИЯ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04873" y="8397084"/>
            <a:ext cx="6254427" cy="86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4"/>
              </a:lnSpc>
            </a:pPr>
            <a:r>
              <a:rPr lang="en-US" sz="2687" spc="204">
                <a:solidFill>
                  <a:srgbClr val="363535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ПРЕЗЕНТАЦИЮ ПОДГОТОВИЛ</a:t>
            </a:r>
          </a:p>
          <a:p>
            <a:pPr algn="just">
              <a:lnSpc>
                <a:spcPts val="3494"/>
              </a:lnSpc>
            </a:pPr>
            <a:r>
              <a:rPr lang="en-US" sz="2687" spc="204">
                <a:solidFill>
                  <a:srgbClr val="363535"/>
                </a:solidFill>
                <a:latin typeface="Montserrat"/>
                <a:ea typeface="Montserrat"/>
                <a:cs typeface="Montserrat"/>
                <a:sym typeface="Montserrat"/>
              </a:rPr>
              <a:t>АЛЕКСАНДР ЮНЁВ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518417" y="5371866"/>
            <a:ext cx="5251167" cy="349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D9D9D9"/>
                </a:solidFill>
                <a:latin typeface="Gotham"/>
                <a:ea typeface="Gotham"/>
                <a:cs typeface="Gotham"/>
                <a:sym typeface="Gotham"/>
              </a:rPr>
              <a:t>презентация о продукте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18417" y="4886559"/>
            <a:ext cx="5251167" cy="45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643">
                <a:solidFill>
                  <a:srgbClr val="D9D9D9"/>
                </a:solidFill>
                <a:latin typeface="Gotham"/>
                <a:ea typeface="Gotham"/>
                <a:cs typeface="Gotham"/>
                <a:sym typeface="Gotham"/>
              </a:rPr>
              <a:t>описание вашего продукта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88717" y="4357636"/>
            <a:ext cx="11510566" cy="109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6"/>
              </a:lnSpc>
              <a:spcBef>
                <a:spcPct val="0"/>
              </a:spcBef>
            </a:pPr>
            <a:r>
              <a:rPr lang="en-US" sz="6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 временных рядов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126788" y="1028700"/>
            <a:ext cx="14034424" cy="5473425"/>
          </a:xfrm>
          <a:custGeom>
            <a:avLst/>
            <a:gdLst/>
            <a:ahLst/>
            <a:cxnLst/>
            <a:rect r="r" b="b" t="t" l="l"/>
            <a:pathLst>
              <a:path h="5473425" w="14034424">
                <a:moveTo>
                  <a:pt x="0" y="0"/>
                </a:moveTo>
                <a:lnTo>
                  <a:pt x="14034424" y="0"/>
                </a:lnTo>
                <a:lnTo>
                  <a:pt x="14034424" y="5473425"/>
                </a:lnTo>
                <a:lnTo>
                  <a:pt x="0" y="5473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697027"/>
            <a:ext cx="16230600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19" indent="-194309" lvl="1">
              <a:lnSpc>
                <a:spcPts val="233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 ию</a:t>
            </a: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ня 2023 до апреля 2024 количество звонков и количество сделок постепенно растёт. Это указывает на рост активности бизнеса и расширение клиентской базы, рекламные акции.</a:t>
            </a:r>
          </a:p>
          <a:p>
            <a:pPr algn="just">
              <a:lnSpc>
                <a:spcPts val="780"/>
              </a:lnSpc>
            </a:pPr>
          </a:p>
          <a:p>
            <a:pPr algn="just" marL="388619" indent="-194309" lvl="1">
              <a:lnSpc>
                <a:spcPts val="233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Тренды у двух показателей схожи: рост звонков сопровождается ростом сделок. Можно предположить, что звонки напрямую влияют на конверсию в сделки.</a:t>
            </a:r>
          </a:p>
          <a:p>
            <a:pPr algn="just">
              <a:lnSpc>
                <a:spcPts val="780"/>
              </a:lnSpc>
            </a:pPr>
          </a:p>
          <a:p>
            <a:pPr algn="just" marL="388619" indent="-194309" lvl="1">
              <a:lnSpc>
                <a:spcPts val="233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Апрель 2024 — переломный момент. Наблюдаем наибольшую активность: звонки достигают более 12,7тыс., сделки — почти 3100. После этого наблюдается резкое падение обоих показателей.</a:t>
            </a:r>
          </a:p>
          <a:p>
            <a:pPr algn="just">
              <a:lnSpc>
                <a:spcPts val="780"/>
              </a:lnSpc>
            </a:pPr>
          </a:p>
          <a:p>
            <a:pPr algn="just" marL="388619" indent="-194309" lvl="1">
              <a:lnSpc>
                <a:spcPts val="233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 мае–июне 2024 количество звонков снижается примерно на 30–40%, а количество сделок — почти вдвое. Это может быть связано с сезонностью (например, конец квартала или финансового года, летние каникулы) или внутренними изменениями </a:t>
            </a:r>
          </a:p>
          <a:p>
            <a:pPr algn="just">
              <a:lnSpc>
                <a:spcPts val="233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(сокращение ресурсов, смена стратегии).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039853" y="1028700"/>
            <a:ext cx="14208294" cy="5505714"/>
          </a:xfrm>
          <a:custGeom>
            <a:avLst/>
            <a:gdLst/>
            <a:ahLst/>
            <a:cxnLst/>
            <a:rect r="r" b="b" t="t" l="l"/>
            <a:pathLst>
              <a:path h="5505714" w="14208294">
                <a:moveTo>
                  <a:pt x="0" y="0"/>
                </a:moveTo>
                <a:lnTo>
                  <a:pt x="14208294" y="0"/>
                </a:lnTo>
                <a:lnTo>
                  <a:pt x="14208294" y="5505714"/>
                </a:lnTo>
                <a:lnTo>
                  <a:pt x="0" y="55057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679956"/>
            <a:ext cx="16230600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19" indent="-194309" lvl="1">
              <a:lnSpc>
                <a:spcPts val="233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Обе метрики</a:t>
            </a: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(все закрытые сделки и успешные сделки) постепенно растут на протяжении большей части анализируемого периода, особенно заметно этот рост проявился с осени 2023 года по апрель 2024 года.</a:t>
            </a:r>
          </a:p>
          <a:p>
            <a:pPr algn="just">
              <a:lnSpc>
                <a:spcPts val="780"/>
              </a:lnSpc>
            </a:pPr>
          </a:p>
          <a:p>
            <a:pPr algn="just" marL="388619" indent="-194309" lvl="1">
              <a:lnSpc>
                <a:spcPts val="233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Похожие колебания графиков указывают на то, что динамика общего количества закрытых сделок и успешных сделок тесно связана между собой. Возможно, это обусловлено сезонностью или внешними факторами (например, маркетинговыми кампаниями).</a:t>
            </a:r>
          </a:p>
          <a:p>
            <a:pPr algn="just">
              <a:lnSpc>
                <a:spcPts val="780"/>
              </a:lnSpc>
            </a:pPr>
          </a:p>
          <a:p>
            <a:pPr algn="just" marL="388619" indent="-194309" lvl="1">
              <a:lnSpc>
                <a:spcPts val="233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 декабре 2023 года наблюдается небольшой спад, что характерно для конца года.</a:t>
            </a:r>
          </a:p>
          <a:p>
            <a:pPr algn="just">
              <a:lnSpc>
                <a:spcPts val="780"/>
              </a:lnSpc>
            </a:pPr>
          </a:p>
          <a:p>
            <a:pPr algn="just" marL="388619" indent="-194309" lvl="1">
              <a:lnSpc>
                <a:spcPts val="233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Резкий рост с начала 2024 года и столь же выраженное падение после апреля могут свидетельствовать о влиянии краткосрочных факторов (запуск новой акции, изменения в продукте или услуге)</a:t>
            </a:r>
          </a:p>
          <a:p>
            <a:pPr algn="just">
              <a:lnSpc>
                <a:spcPts val="2339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600450" y="5440347"/>
            <a:ext cx="10147384" cy="3817953"/>
          </a:xfrm>
          <a:custGeom>
            <a:avLst/>
            <a:gdLst/>
            <a:ahLst/>
            <a:cxnLst/>
            <a:rect r="r" b="b" t="t" l="l"/>
            <a:pathLst>
              <a:path h="3817953" w="10147384">
                <a:moveTo>
                  <a:pt x="0" y="0"/>
                </a:moveTo>
                <a:lnTo>
                  <a:pt x="10147384" y="0"/>
                </a:lnTo>
                <a:lnTo>
                  <a:pt x="10147384" y="3817953"/>
                </a:lnTo>
                <a:lnTo>
                  <a:pt x="0" y="3817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0147384" cy="3970164"/>
          </a:xfrm>
          <a:custGeom>
            <a:avLst/>
            <a:gdLst/>
            <a:ahLst/>
            <a:cxnLst/>
            <a:rect r="r" b="b" t="t" l="l"/>
            <a:pathLst>
              <a:path h="3970164" w="10147384">
                <a:moveTo>
                  <a:pt x="0" y="0"/>
                </a:moveTo>
                <a:lnTo>
                  <a:pt x="10147384" y="0"/>
                </a:lnTo>
                <a:lnTo>
                  <a:pt x="10147384" y="3970164"/>
                </a:lnTo>
                <a:lnTo>
                  <a:pt x="0" y="39701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27136" y="5958556"/>
            <a:ext cx="8556106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18" indent="-194309" lvl="1">
              <a:lnSpc>
                <a:spcPts val="2339"/>
              </a:lnSpc>
              <a:buFont typeface="Arial"/>
              <a:buChar char="•"/>
            </a:pP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</a:t>
            </a:r>
            <a:r>
              <a:rPr lang="en-US" sz="1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сновная часть сделок сосредоточена на пяти ключевых стадиях.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76084" y="1009650"/>
            <a:ext cx="6349026" cy="398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Средняя продолжительность сделок значитель-но выше медианной во все месяцы, что указывает на наличие длинных сделок, влияющих на среднее, и асимметричное распределение по длительности.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Значительное расхождение средней и медиан-ной продолжительности говорит о том, что для анализа лучше ориентироваться на медиану, так как она меньше подвержена влиянию редких длинных сделок.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 учетом полученных данных можно предпо-лагать, что большая часть созданных сделок закрывается в течение месяца.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10934" y="1028700"/>
            <a:ext cx="15666132" cy="5522311"/>
          </a:xfrm>
          <a:custGeom>
            <a:avLst/>
            <a:gdLst/>
            <a:ahLst/>
            <a:cxnLst/>
            <a:rect r="r" b="b" t="t" l="l"/>
            <a:pathLst>
              <a:path h="5522311" w="15666132">
                <a:moveTo>
                  <a:pt x="0" y="0"/>
                </a:moveTo>
                <a:lnTo>
                  <a:pt x="15666132" y="0"/>
                </a:lnTo>
                <a:lnTo>
                  <a:pt x="15666132" y="5522311"/>
                </a:lnTo>
                <a:lnTo>
                  <a:pt x="0" y="55223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734810"/>
            <a:ext cx="16230600" cy="252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отерянные сделки: 44% клиентов теряются в первый день, ещё 27% — в течение первой недели → типичная фильтрация воронки продаж образовательной компании.</a:t>
            </a:r>
          </a:p>
          <a:p>
            <a:pPr algn="l">
              <a:lnSpc>
                <a:spcPts val="780"/>
              </a:lnSpc>
            </a:pP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Проблемные стадии: "Call Delayed", "Registered on Webinar", "Waiting for Payment" — менее 1% сделок имеют дату закрытия из-за отсутствия контроля или автоматизации. Рекомендация: доработать алгоритмы фиксации исхода сделок, чтобы учитывать причины потерь.</a:t>
            </a:r>
          </a:p>
          <a:p>
            <a:pPr algn="l">
              <a:lnSpc>
                <a:spcPts val="780"/>
              </a:lnSpc>
            </a:pPr>
          </a:p>
          <a:p>
            <a:pPr algn="l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Стадия "Payment Done": сделки закрываются равномерно, с разной длительностью — быстрые, средние и длинные сценарии, что связано с отсроченными или частичными оплатами.</a:t>
            </a:r>
          </a:p>
          <a:p>
            <a:pPr algn="l">
              <a:lnSpc>
                <a:spcPts val="234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589551" y="4557427"/>
            <a:ext cx="15108899" cy="109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6"/>
              </a:lnSpc>
              <a:spcBef>
                <a:spcPct val="0"/>
              </a:spcBef>
            </a:pPr>
            <a:r>
              <a:rPr lang="en-US" sz="6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 эффективности кампаний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275588"/>
            <a:ext cx="9944615" cy="3679508"/>
          </a:xfrm>
          <a:custGeom>
            <a:avLst/>
            <a:gdLst/>
            <a:ahLst/>
            <a:cxnLst/>
            <a:rect r="r" b="b" t="t" l="l"/>
            <a:pathLst>
              <a:path h="3679508" w="9944615">
                <a:moveTo>
                  <a:pt x="0" y="0"/>
                </a:moveTo>
                <a:lnTo>
                  <a:pt x="9944615" y="0"/>
                </a:lnTo>
                <a:lnTo>
                  <a:pt x="9944615" y="3679507"/>
                </a:lnTo>
                <a:lnTo>
                  <a:pt x="0" y="36795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143500"/>
            <a:ext cx="9944615" cy="3791384"/>
          </a:xfrm>
          <a:custGeom>
            <a:avLst/>
            <a:gdLst/>
            <a:ahLst/>
            <a:cxnLst/>
            <a:rect r="r" b="b" t="t" l="l"/>
            <a:pathLst>
              <a:path h="3791384" w="9944615">
                <a:moveTo>
                  <a:pt x="0" y="0"/>
                </a:moveTo>
                <a:lnTo>
                  <a:pt x="9944615" y="0"/>
                </a:lnTo>
                <a:lnTo>
                  <a:pt x="9944615" y="3791384"/>
                </a:lnTo>
                <a:lnTo>
                  <a:pt x="0" y="37913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27664" y="1444942"/>
            <a:ext cx="6231636" cy="748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Лидируюущую позицию по объёму продаж занимает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performance_max_digitalmarkt_ru_DE — 2650 лидов, самая продуктивная кампания.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Следующие по объёму: youtube_shorts_DE (1635) и 12.07.23wide_DE (1575) — высокая вовлечён-ность и охват, но низкая конверсия → возможны проблемы на стороне продаж или неправильное восприятие рекламы.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Кампании с высокой конверсией: отмечены темно-зеленым цветом, вероятно, узко нацелены на конкретную аудиторию.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Вывод по воронке: классическая длинная воронка — несколько кампаний дают основной приток трафика, остальные работают на охват и специальные сегменты.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Рекомендации: масштабировать топовые кампании и оптимизировать конверсию у менее массовых — они часто дают наибольшую отдачу на одного лида.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Динамика продаж: рост выручки и стабильный поток платежей подтверждают эффективность маркетинговых усилий; визуально прослеживается связь между количеством лидов и продажами.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916731"/>
            <a:ext cx="16230600" cy="4070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4098" indent="-212049" lvl="1">
              <a:lnSpc>
                <a:spcPts val="2553"/>
              </a:lnSpc>
              <a:buFont typeface="Arial"/>
              <a:buChar char="•"/>
            </a:pP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Лидер по расход</a:t>
            </a: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ам и кликам: performancemax_eng_DE — высокая инвестиционная активность привела к пропор-ционально большому отклику.</a:t>
            </a:r>
          </a:p>
          <a:p>
            <a:pPr algn="just" marL="424098" indent="-212049" lvl="1">
              <a:lnSpc>
                <a:spcPts val="2553"/>
              </a:lnSpc>
              <a:buFont typeface="Arial"/>
              <a:buChar char="•"/>
            </a:pP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12.07.23wide_DE и discovery_DE имеют одинаковый бюджет, но кликов в 2 раза меньше → требует анализа причин.</a:t>
            </a:r>
          </a:p>
          <a:p>
            <a:pPr algn="just" marL="424098" indent="-212049" lvl="1">
              <a:lnSpc>
                <a:spcPts val="2553"/>
              </a:lnSpc>
              <a:buFont typeface="Arial"/>
              <a:buChar char="•"/>
            </a:pP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Низкая отдача: 03.07.23women и 07.07.23LAL_DE — небольшие расходы и мало кликов → низкая эффективность.</a:t>
            </a:r>
          </a:p>
          <a:p>
            <a:pPr algn="just">
              <a:lnSpc>
                <a:spcPts val="780"/>
              </a:lnSpc>
            </a:pPr>
          </a:p>
          <a:p>
            <a:pPr algn="just">
              <a:lnSpc>
                <a:spcPts val="2553"/>
              </a:lnSpc>
            </a:pP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Примеры эффективности:</a:t>
            </a:r>
          </a:p>
          <a:p>
            <a:pPr algn="just" marL="848196" indent="-282732" lvl="2">
              <a:lnSpc>
                <a:spcPts val="2553"/>
              </a:lnSpc>
              <a:buFont typeface="Arial"/>
              <a:buChar char="⚬"/>
            </a:pP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discovery_wide1_AT и 1performancemax_wide_PL — хорошая кликабельность → min Spend, нет в Top 10 by Spend.</a:t>
            </a:r>
          </a:p>
          <a:p>
            <a:pPr algn="just" marL="848196" indent="-282732" lvl="2">
              <a:lnSpc>
                <a:spcPts val="2553"/>
              </a:lnSpc>
              <a:buFont typeface="Arial"/>
              <a:buChar char="⚬"/>
            </a:pP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07.07.23LAL_DE и 12.09.23interests_Uxui_DE — большие расходы, но низкая кликабельность → нет в Top 10 by Clicks.</a:t>
            </a:r>
          </a:p>
          <a:p>
            <a:pPr algn="just">
              <a:lnSpc>
                <a:spcPts val="780"/>
              </a:lnSpc>
            </a:pPr>
          </a:p>
          <a:p>
            <a:pPr algn="just">
              <a:lnSpc>
                <a:spcPts val="2553"/>
              </a:lnSpc>
            </a:pP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Рекомендации:</a:t>
            </a:r>
          </a:p>
          <a:p>
            <a:pPr algn="just" marL="848196" indent="-282732" lvl="2">
              <a:lnSpc>
                <a:spcPts val="2553"/>
              </a:lnSpc>
              <a:buFont typeface="Arial"/>
              <a:buChar char="⚬"/>
            </a:pP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Оптимизировать бюджеты кампаний с низкой кликабельностью.</a:t>
            </a:r>
          </a:p>
          <a:p>
            <a:pPr algn="just" marL="848196" indent="-282732" lvl="2">
              <a:lnSpc>
                <a:spcPts val="2553"/>
              </a:lnSpc>
              <a:buFont typeface="Arial"/>
              <a:buChar char="⚬"/>
            </a:pP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Масштабировать кампании с высоким соотношением кликов к расходам для увеличения охвата при том </a:t>
            </a:r>
          </a:p>
          <a:p>
            <a:pPr algn="just">
              <a:lnSpc>
                <a:spcPts val="2553"/>
              </a:lnSpc>
            </a:pP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</a:t>
            </a:r>
            <a:r>
              <a:rPr lang="en-US" sz="196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же бюджете.</a:t>
            </a:r>
          </a:p>
          <a:p>
            <a:pPr algn="just">
              <a:lnSpc>
                <a:spcPts val="2553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16230600" cy="4625721"/>
          </a:xfrm>
          <a:custGeom>
            <a:avLst/>
            <a:gdLst/>
            <a:ahLst/>
            <a:cxnLst/>
            <a:rect r="r" b="b" t="t" l="l"/>
            <a:pathLst>
              <a:path h="4625721" w="16230600">
                <a:moveTo>
                  <a:pt x="0" y="0"/>
                </a:moveTo>
                <a:lnTo>
                  <a:pt x="16230600" y="0"/>
                </a:lnTo>
                <a:lnTo>
                  <a:pt x="16230600" y="4625721"/>
                </a:lnTo>
                <a:lnTo>
                  <a:pt x="0" y="46257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714097" y="1041871"/>
            <a:ext cx="14859806" cy="5405255"/>
          </a:xfrm>
          <a:custGeom>
            <a:avLst/>
            <a:gdLst/>
            <a:ahLst/>
            <a:cxnLst/>
            <a:rect r="r" b="b" t="t" l="l"/>
            <a:pathLst>
              <a:path h="5405255" w="14859806">
                <a:moveTo>
                  <a:pt x="0" y="0"/>
                </a:moveTo>
                <a:lnTo>
                  <a:pt x="14859806" y="0"/>
                </a:lnTo>
                <a:lnTo>
                  <a:pt x="14859806" y="5405255"/>
                </a:lnTo>
                <a:lnTo>
                  <a:pt x="0" y="54052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6865" y="6646342"/>
            <a:ext cx="16394269" cy="30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Facebook Ads и Google Ads - источники привлекают наибольшее количество лидов. Однако их конверсия ниже, чем у ряда других каналов. Необходимо провести аудит Facebook Ads и Google Ads, чтобы повысить их конверсию. Возможно, стоит пересмотреть таргетинг.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Organic и SMM — ключевые источники трафика. Высокая конверсия при хорошем охвате. Качественные и перспективные источники клиентов. Рекомендуется рассматривать их при планировании развития и маркетинговых стратегий.</a:t>
            </a:r>
          </a:p>
          <a:p>
            <a:pPr algn="just">
              <a:lnSpc>
                <a:spcPts val="779"/>
              </a:lnSpc>
            </a:pP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Webinar показывает высокую конверсию. Необхомидо увеличивать привличение потенциальных клиентов, но это повлечет увелечение затрат на рекламу.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Bloggers, YouTube, TikTok имеют показатели конверсии ниже средних. По затратам на рекламу образуют условную группу. </a:t>
            </a:r>
          </a:p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Могут быть использованы как дополнительные каналы, но требуют оптимизации.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096558" y="4004977"/>
            <a:ext cx="14094884" cy="220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6"/>
              </a:lnSpc>
              <a:spcBef>
                <a:spcPct val="0"/>
              </a:spcBef>
            </a:pPr>
            <a:r>
              <a:rPr lang="en-US" sz="6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 эффективности работы </a:t>
            </a:r>
          </a:p>
          <a:p>
            <a:pPr algn="ctr">
              <a:lnSpc>
                <a:spcPts val="8716"/>
              </a:lnSpc>
              <a:spcBef>
                <a:spcPct val="0"/>
              </a:spcBef>
            </a:pPr>
            <a:r>
              <a:rPr lang="en-US" sz="6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отдела продаж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56897"/>
            <a:ext cx="11301259" cy="4110833"/>
          </a:xfrm>
          <a:custGeom>
            <a:avLst/>
            <a:gdLst/>
            <a:ahLst/>
            <a:cxnLst/>
            <a:rect r="r" b="b" t="t" l="l"/>
            <a:pathLst>
              <a:path h="4110833" w="11301259">
                <a:moveTo>
                  <a:pt x="0" y="0"/>
                </a:moveTo>
                <a:lnTo>
                  <a:pt x="11301259" y="0"/>
                </a:lnTo>
                <a:lnTo>
                  <a:pt x="11301259" y="4110833"/>
                </a:lnTo>
                <a:lnTo>
                  <a:pt x="0" y="4110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552588" y="803910"/>
            <a:ext cx="4971804" cy="8416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Лидеры по объёму: Charlie Davis (2952 сделок), Julia Nelson и Ulysses Adams (2000+). Высокий вклад в общий объём.</a:t>
            </a:r>
          </a:p>
          <a:p>
            <a:pPr algn="just">
              <a:lnSpc>
                <a:spcPts val="130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Лучший по конверсии: Oliver Taylor (31%, 163 сделки, среднее закрытие — 72 дня). Невысокий объём, но выдающееся качество работы.</a:t>
            </a:r>
          </a:p>
          <a:p>
            <a:pPr algn="just">
              <a:lnSpc>
                <a:spcPts val="130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Оптимальный баланс: Paula Underwood — значительный объём сделок при достойной конверсии.</a:t>
            </a:r>
          </a:p>
          <a:p>
            <a:pPr algn="just">
              <a:lnSpc>
                <a:spcPts val="130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Проблемные показатели: Diana Evans — 1009 сделок, конверсия всего 0.1%. Требуется обучение и анализ процессов.</a:t>
            </a:r>
          </a:p>
          <a:p>
            <a:pPr algn="just">
              <a:lnSpc>
                <a:spcPts val="1300"/>
              </a:lnSpc>
            </a:pPr>
          </a:p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Рекомендации:</a:t>
            </a:r>
          </a:p>
          <a:p>
            <a:pPr algn="just" marL="777241" indent="-259080" lvl="2">
              <a:lnSpc>
                <a:spcPts val="234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Перераспределить сделки между перегруженными и менее загруженными сотрудниками.</a:t>
            </a:r>
          </a:p>
          <a:p>
            <a:pPr algn="just">
              <a:lnSpc>
                <a:spcPts val="780"/>
              </a:lnSpc>
            </a:pPr>
          </a:p>
          <a:p>
            <a:pPr algn="just" marL="777241" indent="-259080" lvl="2">
              <a:lnSpc>
                <a:spcPts val="234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Использовать опыт Ulysses Adams и Oliver Taylor как успешные кейсы.</a:t>
            </a:r>
          </a:p>
          <a:p>
            <a:pPr algn="just">
              <a:lnSpc>
                <a:spcPts val="780"/>
              </a:lnSpc>
            </a:pPr>
          </a:p>
          <a:p>
            <a:pPr algn="just" marL="777241" indent="-259080" lvl="2">
              <a:lnSpc>
                <a:spcPts val="234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очетать сотрудников с высокой конверсией и тех, кто обрабатывает большой </a:t>
            </a:r>
          </a:p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поток клиентов.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6150454"/>
            <a:ext cx="11301259" cy="3107846"/>
          </a:xfrm>
          <a:custGeom>
            <a:avLst/>
            <a:gdLst/>
            <a:ahLst/>
            <a:cxnLst/>
            <a:rect r="r" b="b" t="t" l="l"/>
            <a:pathLst>
              <a:path h="3107846" w="11301259">
                <a:moveTo>
                  <a:pt x="0" y="0"/>
                </a:moveTo>
                <a:lnTo>
                  <a:pt x="11301259" y="0"/>
                </a:lnTo>
                <a:lnTo>
                  <a:pt x="11301259" y="3107846"/>
                </a:lnTo>
                <a:lnTo>
                  <a:pt x="0" y="31078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82337" y="1028700"/>
            <a:ext cx="15323326" cy="5650476"/>
          </a:xfrm>
          <a:custGeom>
            <a:avLst/>
            <a:gdLst/>
            <a:ahLst/>
            <a:cxnLst/>
            <a:rect r="r" b="b" t="t" l="l"/>
            <a:pathLst>
              <a:path h="5650476" w="15323326">
                <a:moveTo>
                  <a:pt x="0" y="0"/>
                </a:moveTo>
                <a:lnTo>
                  <a:pt x="15323326" y="0"/>
                </a:lnTo>
                <a:lnTo>
                  <a:pt x="15323326" y="5650476"/>
                </a:lnTo>
                <a:lnTo>
                  <a:pt x="0" y="56504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788333"/>
            <a:ext cx="16230600" cy="310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 компании выявлено 9 сотрудников, которые работают от 5 до 11 месяцев, но не имеют ни одной успешной сделки. Они активно обрабатывают сделки, однако по каким-то причинам не доводят их до успешного результата.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Возможные причины:</a:t>
            </a:r>
          </a:p>
          <a:p>
            <a:pPr algn="just" marL="777241" indent="-259080" lvl="2">
              <a:lnSpc>
                <a:spcPts val="234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Специфика роли: Возможно, данные сотрудники выполняют задачи, которые не предполагают прямое привлечение клиентов или закрытие сделок.</a:t>
            </a:r>
          </a:p>
          <a:p>
            <a:pPr algn="just" marL="777241" indent="-259080" lvl="2">
              <a:lnSpc>
                <a:spcPts val="234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Низкая конверсия: Если их роль предполагает работу с клиентами, необходимо тщательно изучить причины отсутствия успеха — возможно, требуются обучение или корректировка процессов.</a:t>
            </a:r>
          </a:p>
          <a:p>
            <a:pPr algn="just">
              <a:lnSpc>
                <a:spcPts val="780"/>
              </a:lnSpc>
            </a:pPr>
          </a:p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Рекомендация:</a:t>
            </a:r>
          </a:p>
          <a:p>
            <a:pPr algn="just" marL="777241" indent="-259080" lvl="2">
              <a:lnSpc>
                <a:spcPts val="234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детальный анализ работы этих сотрудников, чтобы понять, связано ли это с особенностями их роли </a:t>
            </a:r>
          </a:p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или с проблемами в продажах, и принять соответствующие меры для улучшения конверсии.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13622" y="1028700"/>
            <a:ext cx="15429178" cy="5670223"/>
          </a:xfrm>
          <a:custGeom>
            <a:avLst/>
            <a:gdLst/>
            <a:ahLst/>
            <a:cxnLst/>
            <a:rect r="r" b="b" t="t" l="l"/>
            <a:pathLst>
              <a:path h="5670223" w="15429178">
                <a:moveTo>
                  <a:pt x="0" y="0"/>
                </a:moveTo>
                <a:lnTo>
                  <a:pt x="15429177" y="0"/>
                </a:lnTo>
                <a:lnTo>
                  <a:pt x="15429177" y="5670223"/>
                </a:lnTo>
                <a:lnTo>
                  <a:pt x="0" y="5670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893814"/>
            <a:ext cx="16399021" cy="324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Лид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еры по выручке: Sara Iverson, Charlie Davis, Ulysses Adams, Julia Nelson.</a:t>
            </a:r>
          </a:p>
          <a:p>
            <a:pPr algn="just" marL="388620" indent="-194310" lvl="1">
              <a:lnSpc>
                <a:spcPts val="234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Sara Iverson — сделок меньше, чем у коллег, но выручка выше → высокая ценность каждой сделки.</a:t>
            </a:r>
          </a:p>
          <a:p>
            <a:pPr algn="just" marL="388620" indent="-194310" lvl="1">
              <a:lnSpc>
                <a:spcPts val="234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Charlie Davis — много сделок, но низкая средняя выручка (возможно скидки, регулярные платежи или задолженности).</a:t>
            </a:r>
          </a:p>
          <a:p>
            <a:pPr algn="just" marL="388620" indent="-194310" lvl="1">
              <a:lnSpc>
                <a:spcPts val="234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Основная группа: большинство сотрудников (до 1500 сделок) показывают средние результаты и низкую конверсию — есть потенциал роста при обучении.</a:t>
            </a:r>
          </a:p>
          <a:p>
            <a:pPr algn="just" marL="388620" indent="-194310" lvl="1">
              <a:lnSpc>
                <a:spcPts val="234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Рекомендации:</a:t>
            </a:r>
          </a:p>
          <a:p>
            <a:pPr algn="just" marL="777240" indent="-259080" lvl="2">
              <a:lnSpc>
                <a:spcPts val="234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Внедрить систему мотивации и менторство (успешные сотрудники как наставники).</a:t>
            </a:r>
          </a:p>
          <a:p>
            <a:pPr algn="just" marL="777240" indent="-259080" lvl="2">
              <a:lnSpc>
                <a:spcPts val="234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Перераспределять нагрузку для повышения эффективности и предотвращения выгорания.</a:t>
            </a:r>
          </a:p>
          <a:p>
            <a:pPr algn="just" marL="777240" indent="-259080" lvl="2">
              <a:lnSpc>
                <a:spcPts val="2340"/>
              </a:lnSpc>
              <a:spcBef>
                <a:spcPct val="0"/>
              </a:spcBef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Фокус на поиске резервов: кто приносит высокую выручку с меньшей активностью и кто работает много, </a:t>
            </a:r>
          </a:p>
          <a:p>
            <a:pPr algn="just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      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но без соответствующего результата.</a:t>
            </a:r>
          </a:p>
          <a:p>
            <a:pPr algn="just">
              <a:lnSpc>
                <a:spcPts val="234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513529"/>
            <a:ext cx="11062768" cy="7259942"/>
          </a:xfrm>
          <a:custGeom>
            <a:avLst/>
            <a:gdLst/>
            <a:ahLst/>
            <a:cxnLst/>
            <a:rect r="r" b="b" t="t" l="l"/>
            <a:pathLst>
              <a:path h="7259942" w="11062768">
                <a:moveTo>
                  <a:pt x="0" y="0"/>
                </a:moveTo>
                <a:lnTo>
                  <a:pt x="11062768" y="0"/>
                </a:lnTo>
                <a:lnTo>
                  <a:pt x="11062768" y="7259942"/>
                </a:lnTo>
                <a:lnTo>
                  <a:pt x="0" y="72599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80920" y="1969691"/>
            <a:ext cx="5566101" cy="6319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332" indent="-209166" lvl="1">
              <a:lnSpc>
                <a:spcPts val="2518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performancemax — высокая масштабируемость, но средняя конверсия (4.2%) → холодная аудитория</a:t>
            </a:r>
          </a:p>
          <a:p>
            <a:pPr algn="l">
              <a:lnSpc>
                <a:spcPts val="1299"/>
              </a:lnSpc>
            </a:pPr>
          </a:p>
          <a:p>
            <a:pPr algn="l" marL="418332" indent="-209166" lvl="1">
              <a:lnSpc>
                <a:spcPts val="2518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wide — высокий объём продаж и вовлеченности.</a:t>
            </a:r>
          </a:p>
          <a:p>
            <a:pPr algn="l">
              <a:lnSpc>
                <a:spcPts val="1299"/>
              </a:lnSpc>
            </a:pPr>
          </a:p>
          <a:p>
            <a:pPr algn="l" marL="418332" indent="-209166" lvl="1">
              <a:lnSpc>
                <a:spcPts val="2518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brand_search —  высокий коэффициент конверсии (8.9%) → теплая аудитория</a:t>
            </a:r>
          </a:p>
          <a:p>
            <a:pPr algn="l">
              <a:lnSpc>
                <a:spcPts val="1299"/>
              </a:lnSpc>
            </a:pPr>
          </a:p>
          <a:p>
            <a:pPr algn="l" marL="418332" indent="-209166" lvl="1">
              <a:lnSpc>
                <a:spcPts val="2518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interests, women — стабильные кампании, правильный выбор аудиторий.</a:t>
            </a:r>
          </a:p>
          <a:p>
            <a:pPr algn="l">
              <a:lnSpc>
                <a:spcPts val="1299"/>
              </a:lnSpc>
            </a:pPr>
          </a:p>
          <a:p>
            <a:pPr algn="l" marL="418332" indent="-209166" lvl="1">
              <a:lnSpc>
                <a:spcPts val="2518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YouTube Shorts — хорошо работает на вовлечённость.</a:t>
            </a:r>
          </a:p>
          <a:p>
            <a:pPr algn="l">
              <a:lnSpc>
                <a:spcPts val="1299"/>
              </a:lnSpc>
            </a:pPr>
          </a:p>
          <a:p>
            <a:pPr algn="l" marL="418332" indent="-209166" lvl="1">
              <a:lnSpc>
                <a:spcPts val="2518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Вебинары — слабое звено, нужна реорганизация.</a:t>
            </a:r>
          </a:p>
          <a:p>
            <a:pPr algn="l">
              <a:lnSpc>
                <a:spcPts val="1299"/>
              </a:lnSpc>
            </a:pPr>
          </a:p>
          <a:p>
            <a:pPr algn="l" marL="418332" indent="-209166" lvl="1">
              <a:lnSpc>
                <a:spcPts val="2518"/>
              </a:lnSpc>
              <a:buFont typeface="Arial"/>
              <a:buChar char="•"/>
            </a:pPr>
            <a:r>
              <a:rPr lang="en-US" sz="193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Блогеры — низкая эффективность, стоит пересмотреть подход к выбору инфлюэнсеров.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401027" y="4557427"/>
            <a:ext cx="13485945" cy="109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6"/>
              </a:lnSpc>
              <a:spcBef>
                <a:spcPct val="0"/>
              </a:spcBef>
            </a:pPr>
            <a:r>
              <a:rPr lang="en-US" sz="6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 платежей и продуктов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373233" y="1028700"/>
            <a:ext cx="13541534" cy="5518175"/>
          </a:xfrm>
          <a:custGeom>
            <a:avLst/>
            <a:gdLst/>
            <a:ahLst/>
            <a:cxnLst/>
            <a:rect r="r" b="b" t="t" l="l"/>
            <a:pathLst>
              <a:path h="5518175" w="13541534">
                <a:moveTo>
                  <a:pt x="0" y="0"/>
                </a:moveTo>
                <a:lnTo>
                  <a:pt x="13541534" y="0"/>
                </a:lnTo>
                <a:lnTo>
                  <a:pt x="13541534" y="5518175"/>
                </a:lnTo>
                <a:lnTo>
                  <a:pt x="0" y="5518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811518"/>
            <a:ext cx="16230600" cy="2910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Основной доход компании формируется за счёт разовых платежей. Повторяющиеся платежи приносят вдвое меньше, а резервирование почти не влияет на финансовый результат.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Стоит отметить, что повторяющиеся платежи выбирает большинство клиентов, что положительно сказывается на общей конверсии. Разовые платежи демонстрируют более высокую конверсию у отдельных клиентов, вероятно, потому что такие клиенты уже точно определились с выбором курса или хотят использовать скидку.</a:t>
            </a:r>
          </a:p>
          <a:p>
            <a:pPr algn="just">
              <a:lnSpc>
                <a:spcPts val="779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Разнообразие вариантов оплаты важно для бизнеса, так как удобный и подходящий способ оплаты может быть решающим фактором при выборе обучения.</a:t>
            </a:r>
          </a:p>
          <a:p>
            <a:pPr algn="just">
              <a:lnSpc>
                <a:spcPts val="779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Необходимо пересмотреть стратегию и условия резервирования, поскольку текущая схема практически не влияет на </a:t>
            </a:r>
          </a:p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 доходы и может быть нецелесообразной.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920742" y="869965"/>
            <a:ext cx="9159844" cy="3698287"/>
          </a:xfrm>
          <a:custGeom>
            <a:avLst/>
            <a:gdLst/>
            <a:ahLst/>
            <a:cxnLst/>
            <a:rect r="r" b="b" t="t" l="l"/>
            <a:pathLst>
              <a:path h="3698287" w="9159844">
                <a:moveTo>
                  <a:pt x="0" y="0"/>
                </a:moveTo>
                <a:lnTo>
                  <a:pt x="9159844" y="0"/>
                </a:lnTo>
                <a:lnTo>
                  <a:pt x="9159844" y="3698288"/>
                </a:lnTo>
                <a:lnTo>
                  <a:pt x="0" y="36982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16740" y="1519168"/>
            <a:ext cx="1209335" cy="308504"/>
          </a:xfrm>
          <a:custGeom>
            <a:avLst/>
            <a:gdLst/>
            <a:ahLst/>
            <a:cxnLst/>
            <a:rect r="r" b="b" t="t" l="l"/>
            <a:pathLst>
              <a:path h="308504" w="1209335">
                <a:moveTo>
                  <a:pt x="0" y="0"/>
                </a:moveTo>
                <a:lnTo>
                  <a:pt x="1209335" y="0"/>
                </a:lnTo>
                <a:lnTo>
                  <a:pt x="1209335" y="308504"/>
                </a:lnTo>
                <a:lnTo>
                  <a:pt x="0" y="3085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95502" y="5280891"/>
            <a:ext cx="9495645" cy="3750780"/>
          </a:xfrm>
          <a:custGeom>
            <a:avLst/>
            <a:gdLst/>
            <a:ahLst/>
            <a:cxnLst/>
            <a:rect r="r" b="b" t="t" l="l"/>
            <a:pathLst>
              <a:path h="3750780" w="9495645">
                <a:moveTo>
                  <a:pt x="0" y="0"/>
                </a:moveTo>
                <a:lnTo>
                  <a:pt x="9495644" y="0"/>
                </a:lnTo>
                <a:lnTo>
                  <a:pt x="9495644" y="3750780"/>
                </a:lnTo>
                <a:lnTo>
                  <a:pt x="0" y="37507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15282" y="1009650"/>
            <a:ext cx="5766853" cy="339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Digital Marketing лидирует по всем клю-чевым показателям. Формирует основной доход продаж.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Конверсия успешных сделок примерно одинаковая для всех трёх продуктов (~23%), что говорит о стабильности качества продаж независимо от продукта.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Есть потенциал для увеличения попу-лярности Web Developer и UX/UI Design, так как их конверсия не уступает лидеру, но количество клиентов меньше.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229374"/>
            <a:ext cx="6776421" cy="3983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Утро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&gt; Вечер: продажи утренних курсов почти в 4,5 раза выше по всем продуктам.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Digital Marketing: уверенный лидер.</a:t>
            </a: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UX/UI Design: вдвое меньше сделок и выручки.</a:t>
            </a: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Web Developer: продаётся только утром.</a:t>
            </a:r>
          </a:p>
          <a:p>
            <a:pPr algn="just">
              <a:lnSpc>
                <a:spcPts val="780"/>
              </a:lnSpc>
            </a:pPr>
          </a:p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Рекомендации:</a:t>
            </a:r>
          </a:p>
          <a:p>
            <a:pPr algn="just" marL="777240" indent="-259080" lvl="2">
              <a:lnSpc>
                <a:spcPts val="234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Пересмотреть вечернюю стратегию: адапти-ровать маркетинг, предложение и формат под вечернюю аудиторию.</a:t>
            </a:r>
          </a:p>
          <a:p>
            <a:pPr algn="just" marL="777240" indent="-259080" lvl="2">
              <a:lnSpc>
                <a:spcPts val="234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Усилить продвижение UX/UI Design и Web Developer.</a:t>
            </a:r>
          </a:p>
          <a:p>
            <a:pPr algn="just" marL="777240" indent="-259080" lvl="2">
              <a:lnSpc>
                <a:spcPts val="2340"/>
              </a:lnSpc>
              <a:buFont typeface="Arial"/>
              <a:buChar char="⚬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Сохранить и масштабировать утренние курсы как наиболее эффективные.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3792339" y="4557427"/>
            <a:ext cx="10703322" cy="109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6"/>
              </a:lnSpc>
              <a:spcBef>
                <a:spcPct val="0"/>
              </a:spcBef>
            </a:pPr>
            <a:r>
              <a:rPr lang="en-US" sz="6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Геогр</a:t>
            </a:r>
            <a:r>
              <a:rPr lang="en-US" sz="6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афический анализ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9827369" cy="3771253"/>
          </a:xfrm>
          <a:custGeom>
            <a:avLst/>
            <a:gdLst/>
            <a:ahLst/>
            <a:cxnLst/>
            <a:rect r="r" b="b" t="t" l="l"/>
            <a:pathLst>
              <a:path h="3771253" w="9827369">
                <a:moveTo>
                  <a:pt x="0" y="0"/>
                </a:moveTo>
                <a:lnTo>
                  <a:pt x="9827369" y="0"/>
                </a:lnTo>
                <a:lnTo>
                  <a:pt x="9827369" y="3771253"/>
                </a:lnTo>
                <a:lnTo>
                  <a:pt x="0" y="3771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49802" y="5391417"/>
            <a:ext cx="10109498" cy="3866883"/>
          </a:xfrm>
          <a:custGeom>
            <a:avLst/>
            <a:gdLst/>
            <a:ahLst/>
            <a:cxnLst/>
            <a:rect r="r" b="b" t="t" l="l"/>
            <a:pathLst>
              <a:path h="3866883" w="10109498">
                <a:moveTo>
                  <a:pt x="0" y="0"/>
                </a:moveTo>
                <a:lnTo>
                  <a:pt x="10109498" y="0"/>
                </a:lnTo>
                <a:lnTo>
                  <a:pt x="10109498" y="3866883"/>
                </a:lnTo>
                <a:lnTo>
                  <a:pt x="0" y="38668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969786" y="1009650"/>
            <a:ext cx="6289514" cy="413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рупные экономические центры Германии обладают развитой инфраструктурой и актив-ной бизнес-средой, что стимулирует количество сделок.</a:t>
            </a: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Берлин — столица, где сосредоточены штаб-квартиры компаний, стартапов и международ-ных организаций, создавая множество возможностей.</a:t>
            </a: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Мюнхен и Гамбург — ключевые финансовые и промышленные центры, привлекающие инвес-тиции и деловую активность.</a:t>
            </a: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Размер и численность населения также влияют на число сделок: чем больше город, тем больше потенциальных участников рынка.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0295" y="5372367"/>
            <a:ext cx="5959685" cy="3399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Северный Рейн-Вестфалия — самая густона-селенная и экономически развитая земля Германии с множеством крупных городов.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Бавария известна сильной промышлен-ностью, технологиями и экономическим ростом, включая крупный центр — Мюнхен.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Другие земли, такие как Берлин, Нижняя Саксония, Гессен и Саксония, также имеют развитые экономические центры и инфраструктуру, что отражается на актив-ности сделок.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716013" y="1028700"/>
            <a:ext cx="10855975" cy="7314213"/>
          </a:xfrm>
          <a:custGeom>
            <a:avLst/>
            <a:gdLst/>
            <a:ahLst/>
            <a:cxnLst/>
            <a:rect r="r" b="b" t="t" l="l"/>
            <a:pathLst>
              <a:path h="7314213" w="10855975">
                <a:moveTo>
                  <a:pt x="0" y="0"/>
                </a:moveTo>
                <a:lnTo>
                  <a:pt x="10855974" y="0"/>
                </a:lnTo>
                <a:lnTo>
                  <a:pt x="10855974" y="7314213"/>
                </a:lnTo>
                <a:lnTo>
                  <a:pt x="0" y="73142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8536432"/>
            <a:ext cx="162306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Географическая карта показывает распределение сделок по штатам и городам. Там фактически отображена информация, описанная на предыдущем слайде. Для более делального изучения необходимо запустить код.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82081" y="1028700"/>
            <a:ext cx="15523838" cy="5666201"/>
          </a:xfrm>
          <a:custGeom>
            <a:avLst/>
            <a:gdLst/>
            <a:ahLst/>
            <a:cxnLst/>
            <a:rect r="r" b="b" t="t" l="l"/>
            <a:pathLst>
              <a:path h="5666201" w="15523838">
                <a:moveTo>
                  <a:pt x="0" y="0"/>
                </a:moveTo>
                <a:lnTo>
                  <a:pt x="15523838" y="0"/>
                </a:lnTo>
                <a:lnTo>
                  <a:pt x="15523838" y="5666201"/>
                </a:lnTo>
                <a:lnTo>
                  <a:pt x="0" y="5666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931660"/>
            <a:ext cx="16230600" cy="2326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ализ клиентов по уровню немецкого языка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Доминирующая группа: B1–B2 → основная часть клиентов решает пройти обучение, так как языковой барьер уже частично преодолён.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Начальный уровень (A0–A2): мало клиентов → возможно, страх, что после курса без базового языка работу найти сложно. Рекомендация: усилить маркетинговую аргументацию, показать ценность обучения уже с первых шагов.</a:t>
            </a:r>
          </a:p>
          <a:p>
            <a:pPr algn="just">
              <a:lnSpc>
                <a:spcPts val="780"/>
              </a:lnSpc>
            </a:pPr>
          </a:p>
          <a:p>
            <a:pPr algn="just" marL="388620" indent="-194310" lvl="1">
              <a:lnSpc>
                <a:spcPts val="234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Продвинутый уровень (C1–C2): мало представлены → такие клиенты либо достигли целей, либо ищут более специализированные курсы. Рекомендация: рассмотреть расширение продуктового предложения для этой группы.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3803849" y="4557427"/>
            <a:ext cx="10680303" cy="109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6"/>
              </a:lnSpc>
              <a:spcBef>
                <a:spcPct val="0"/>
              </a:spcBef>
            </a:pPr>
            <a:r>
              <a:rPr lang="en-US" sz="6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Проду</a:t>
            </a:r>
            <a:r>
              <a:rPr lang="en-US" sz="6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ктовая аналитика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763320" y="1659842"/>
            <a:ext cx="12761361" cy="1866349"/>
          </a:xfrm>
          <a:custGeom>
            <a:avLst/>
            <a:gdLst/>
            <a:ahLst/>
            <a:cxnLst/>
            <a:rect r="r" b="b" t="t" l="l"/>
            <a:pathLst>
              <a:path h="1866349" w="12761361">
                <a:moveTo>
                  <a:pt x="0" y="0"/>
                </a:moveTo>
                <a:lnTo>
                  <a:pt x="12761360" y="0"/>
                </a:lnTo>
                <a:lnTo>
                  <a:pt x="12761360" y="1866349"/>
                </a:lnTo>
                <a:lnTo>
                  <a:pt x="0" y="18663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98956" y="4793737"/>
            <a:ext cx="10290089" cy="2759924"/>
          </a:xfrm>
          <a:custGeom>
            <a:avLst/>
            <a:gdLst/>
            <a:ahLst/>
            <a:cxnLst/>
            <a:rect r="r" b="b" t="t" l="l"/>
            <a:pathLst>
              <a:path h="2759924" w="10290089">
                <a:moveTo>
                  <a:pt x="0" y="0"/>
                </a:moveTo>
                <a:lnTo>
                  <a:pt x="10290088" y="0"/>
                </a:lnTo>
                <a:lnTo>
                  <a:pt x="10290088" y="2759925"/>
                </a:lnTo>
                <a:lnTo>
                  <a:pt x="0" y="27599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88213" y="4264147"/>
            <a:ext cx="12236468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Для расчета точек роста увеличиваю последоватлельно UA, C1, AOV, APC и уменьшаю CPA (на 5%)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63320" y="1073102"/>
            <a:ext cx="4592637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Расчет юнит-экономики по продуктам</a:t>
            </a:r>
          </a:p>
          <a:p>
            <a:pPr algn="ctr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772737"/>
            <a:ext cx="16230600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аксимальные точки роста выявлены при увеличении конверсии, среднего чека и среднего числа сделок на одного клиента. Так как значения при изменении С1, AOV и APC одинаковые, но не хватает данных и информации для более детального анализа, я предполагаю, что наилучшей точкой роста будет улучшение метрики конверсии (гипотетически средний чек сложно увеличить - может случится отток клиентов, а APC с учетом специфики бизнеса (длительность курсов 6 и 11 месяц) тоже кажется очень долгоиграющей метрикой).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4773675" cy="6200170"/>
          </a:xfrm>
          <a:custGeom>
            <a:avLst/>
            <a:gdLst/>
            <a:ahLst/>
            <a:cxnLst/>
            <a:rect r="r" b="b" t="t" l="l"/>
            <a:pathLst>
              <a:path h="6200170" w="4773675">
                <a:moveTo>
                  <a:pt x="0" y="0"/>
                </a:moveTo>
                <a:lnTo>
                  <a:pt x="4773675" y="0"/>
                </a:lnTo>
                <a:lnTo>
                  <a:pt x="4773675" y="6200170"/>
                </a:lnTo>
                <a:lnTo>
                  <a:pt x="0" y="62001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94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91266" y="1028700"/>
            <a:ext cx="5646550" cy="2673367"/>
          </a:xfrm>
          <a:custGeom>
            <a:avLst/>
            <a:gdLst/>
            <a:ahLst/>
            <a:cxnLst/>
            <a:rect r="r" b="b" t="t" l="l"/>
            <a:pathLst>
              <a:path h="2673367" w="5646550">
                <a:moveTo>
                  <a:pt x="0" y="0"/>
                </a:moveTo>
                <a:lnTo>
                  <a:pt x="5646551" y="0"/>
                </a:lnTo>
                <a:lnTo>
                  <a:pt x="5646551" y="2673367"/>
                </a:lnTo>
                <a:lnTo>
                  <a:pt x="0" y="26733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53417" y="1028700"/>
            <a:ext cx="5245213" cy="2673367"/>
          </a:xfrm>
          <a:custGeom>
            <a:avLst/>
            <a:gdLst/>
            <a:ahLst/>
            <a:cxnLst/>
            <a:rect r="r" b="b" t="t" l="l"/>
            <a:pathLst>
              <a:path h="2673367" w="5245213">
                <a:moveTo>
                  <a:pt x="0" y="0"/>
                </a:moveTo>
                <a:lnTo>
                  <a:pt x="5245213" y="0"/>
                </a:lnTo>
                <a:lnTo>
                  <a:pt x="5245213" y="2673367"/>
                </a:lnTo>
                <a:lnTo>
                  <a:pt x="0" y="26733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00279" y="3923058"/>
            <a:ext cx="5275075" cy="2756029"/>
          </a:xfrm>
          <a:custGeom>
            <a:avLst/>
            <a:gdLst/>
            <a:ahLst/>
            <a:cxnLst/>
            <a:rect r="r" b="b" t="t" l="l"/>
            <a:pathLst>
              <a:path h="2756029" w="5275075">
                <a:moveTo>
                  <a:pt x="0" y="0"/>
                </a:moveTo>
                <a:lnTo>
                  <a:pt x="5275076" y="0"/>
                </a:lnTo>
                <a:lnTo>
                  <a:pt x="5275076" y="2756029"/>
                </a:lnTo>
                <a:lnTo>
                  <a:pt x="0" y="27560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55811" y="6898162"/>
            <a:ext cx="4364011" cy="2886961"/>
          </a:xfrm>
          <a:custGeom>
            <a:avLst/>
            <a:gdLst/>
            <a:ahLst/>
            <a:cxnLst/>
            <a:rect r="r" b="b" t="t" l="l"/>
            <a:pathLst>
              <a:path h="2886961" w="4364011">
                <a:moveTo>
                  <a:pt x="0" y="0"/>
                </a:moveTo>
                <a:lnTo>
                  <a:pt x="4364011" y="0"/>
                </a:lnTo>
                <a:lnTo>
                  <a:pt x="4364011" y="2886961"/>
                </a:lnTo>
                <a:lnTo>
                  <a:pt x="0" y="2886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812508" y="1028700"/>
            <a:ext cx="14662984" cy="8229600"/>
          </a:xfrm>
          <a:custGeom>
            <a:avLst/>
            <a:gdLst/>
            <a:ahLst/>
            <a:cxnLst/>
            <a:rect r="r" b="b" t="t" l="l"/>
            <a:pathLst>
              <a:path h="8229600" w="14662984">
                <a:moveTo>
                  <a:pt x="0" y="0"/>
                </a:moveTo>
                <a:lnTo>
                  <a:pt x="14662984" y="0"/>
                </a:lnTo>
                <a:lnTo>
                  <a:pt x="146629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812508" y="1028700"/>
            <a:ext cx="14662984" cy="8229600"/>
          </a:xfrm>
          <a:custGeom>
            <a:avLst/>
            <a:gdLst/>
            <a:ahLst/>
            <a:cxnLst/>
            <a:rect r="r" b="b" t="t" l="l"/>
            <a:pathLst>
              <a:path h="8229600" w="14662984">
                <a:moveTo>
                  <a:pt x="0" y="0"/>
                </a:moveTo>
                <a:lnTo>
                  <a:pt x="14662984" y="0"/>
                </a:lnTo>
                <a:lnTo>
                  <a:pt x="146629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861168" y="1028700"/>
            <a:ext cx="14565664" cy="8229600"/>
          </a:xfrm>
          <a:custGeom>
            <a:avLst/>
            <a:gdLst/>
            <a:ahLst/>
            <a:cxnLst/>
            <a:rect r="r" b="b" t="t" l="l"/>
            <a:pathLst>
              <a:path h="8229600" w="14565664">
                <a:moveTo>
                  <a:pt x="0" y="0"/>
                </a:moveTo>
                <a:lnTo>
                  <a:pt x="14565664" y="0"/>
                </a:lnTo>
                <a:lnTo>
                  <a:pt x="145656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D9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6095473" y="182757"/>
            <a:ext cx="4994983" cy="1691886"/>
          </a:xfrm>
          <a:custGeom>
            <a:avLst/>
            <a:gdLst/>
            <a:ahLst/>
            <a:cxnLst/>
            <a:rect r="r" b="b" t="t" l="l"/>
            <a:pathLst>
              <a:path h="1691886" w="4994983">
                <a:moveTo>
                  <a:pt x="0" y="0"/>
                </a:moveTo>
                <a:lnTo>
                  <a:pt x="4994983" y="0"/>
                </a:lnTo>
                <a:lnTo>
                  <a:pt x="4994983" y="1691886"/>
                </a:lnTo>
                <a:lnTo>
                  <a:pt x="0" y="1691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837048" y="-3744499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8"/>
                </a:lnTo>
                <a:lnTo>
                  <a:pt x="0" y="748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14943780" y="7553662"/>
            <a:ext cx="7298368" cy="7488997"/>
          </a:xfrm>
          <a:custGeom>
            <a:avLst/>
            <a:gdLst/>
            <a:ahLst/>
            <a:cxnLst/>
            <a:rect r="r" b="b" t="t" l="l"/>
            <a:pathLst>
              <a:path h="7488997" w="7298368">
                <a:moveTo>
                  <a:pt x="0" y="0"/>
                </a:moveTo>
                <a:lnTo>
                  <a:pt x="7298369" y="0"/>
                </a:lnTo>
                <a:lnTo>
                  <a:pt x="7298369" y="7488997"/>
                </a:lnTo>
                <a:lnTo>
                  <a:pt x="0" y="748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4143573" y="4557427"/>
            <a:ext cx="10000854" cy="1095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16"/>
              </a:lnSpc>
              <a:spcBef>
                <a:spcPct val="0"/>
              </a:spcBef>
            </a:pPr>
            <a:r>
              <a:rPr lang="en-US" sz="670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DAGyh-I_8Ww</dc:identifier>
  <dcterms:modified xsi:type="dcterms:W3CDTF">2011-08-01T06:04:30Z</dcterms:modified>
  <cp:revision>1</cp:revision>
  <dc:title>Online Programming School Analytics</dc:title>
</cp:coreProperties>
</file>